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3759"/>
                </a:solidFill>
                <a:latin typeface="Aptos Display"/>
              </a:defRPr>
            </a:pPr>
            <a:r>
              <a:t>DCDS ESE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Calibri"/>
              </a:defRPr>
            </a:pPr>
            <a:r>
              <a:t>QueryMind 2.0: Voice-Enabled Database Query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505A64"/>
                </a:solidFill>
                <a:latin typeface="Aptos"/>
              </a:defRPr>
            </a:pPr>
            <a:r>
              <a:rPr b="1" sz="1300">
                <a:solidFill>
                  <a:srgbClr val="4338CA"/>
                </a:solidFill>
              </a:rPr>
              <a:t>Course: </a:t>
            </a:r>
            <a:r>
              <a:rPr b="0" sz="1300">
                <a:solidFill>
                  <a:srgbClr val="1E293B"/>
                </a:solidFill>
              </a:rPr>
              <a:t>DCDS — ESE Project (Data Communication &amp; Database Systems)</a:t>
            </a:r>
          </a:p>
          <a:p>
            <a:r>
              <a:rPr b="1" sz="1300">
                <a:solidFill>
                  <a:srgbClr val="4338CA"/>
                </a:solidFill>
              </a:rPr>
              <a:t>Architecture: </a:t>
            </a:r>
            <a:r>
              <a:rPr b="0" sz="1300">
                <a:solidFill>
                  <a:srgbClr val="1E293B"/>
                </a:solidFill>
              </a:rPr>
              <a:t>Voice-to-SQL, Intent Classifier, SQLGlot AST, Supabase PostgreSQL &amp; SQLite</a:t>
            </a:r>
          </a:p>
          <a:p>
            <a:r>
              <a:rPr b="1" sz="1300">
                <a:solidFill>
                  <a:srgbClr val="4338CA"/>
                </a:solidFill>
              </a:rPr>
              <a:t>Testing &amp; Quality: </a:t>
            </a:r>
            <a:r>
              <a:rPr b="0" sz="1300">
                <a:solidFill>
                  <a:srgbClr val="1E293B"/>
                </a:solidFill>
              </a:rPr>
              <a:t>99/99 Automated Pytest Suite Passing (100% Verified)</a:t>
            </a:r>
          </a:p>
          <a:p>
            <a:r>
              <a:rPr b="1" sz="1300">
                <a:solidFill>
                  <a:srgbClr val="4338CA"/>
                </a:solidFill>
              </a:rPr>
              <a:t>Repository: </a:t>
            </a:r>
            <a:r>
              <a:rPr b="0" sz="1300">
                <a:solidFill>
                  <a:srgbClr val="1E293B"/>
                </a:solidFill>
              </a:rPr>
              <a:t>github.com/arjitujjawal-art/ai_Dcds (Branch: querymind-2.0)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Relational Querying Complexity: </a:t>
            </a:r>
            <a:r>
              <a:rPr sz="1350" b="0">
                <a:solidFill>
                  <a:srgbClr val="1E293B"/>
                </a:solidFill>
                <a:latin typeface="Calibri"/>
              </a:rPr>
              <a:t>Non-technical stakeholders (students, faculty, administrators) need operational data insights but lack SQL syntax mastery and schema topology knowledge.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Risks of Unconstrained AI: </a:t>
            </a:r>
            <a:r>
              <a:rPr sz="1350" b="0">
                <a:solidFill>
                  <a:srgbClr val="1E293B"/>
                </a:solidFill>
                <a:latin typeface="Calibri"/>
              </a:rPr>
              <a:t>Standard LLM wrappers hallucinate tables, generate arbitrary SQL, produce destructive DDL/DML mutations, and expose databases to SQL injection.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Conversational Input Bug Autopsy: </a:t>
            </a:r>
            <a:r>
              <a:rPr sz="1350" b="0">
                <a:solidFill>
                  <a:srgbClr val="1E293B"/>
                </a:solidFill>
                <a:latin typeface="Calibri"/>
              </a:rPr>
              <a:t>Spoken greetings like 'hello how are you' previously generated unrelated SQL (SELECT * FROM "exam_scores" LIMIT 50) with misleading green 'Safe' badges.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Target Users &amp; Stakeholders: </a:t>
            </a:r>
            <a:r>
              <a:rPr sz="1350" b="0">
                <a:solidFill>
                  <a:srgbClr val="1E293B"/>
                </a:solidFill>
                <a:latin typeface="Calibri"/>
              </a:rPr>
              <a:t>Academic administrators tracking defaulters, educators analyzing marks distributions, and DBMS learners studying real query execution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Objectives &amp; Project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Acoustic Speech Capture: </a:t>
            </a:r>
            <a:r>
              <a:rPr sz="1350" b="0">
                <a:solidFill>
                  <a:srgbClr val="1E293B"/>
                </a:solidFill>
                <a:latin typeface="Calibri"/>
              </a:rPr>
              <a:t>Provide zero-install, browser-native speech recognition via W3C Web Speech API with real-time waveform visualization.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Intent-Aware Query Gating: </a:t>
            </a:r>
            <a:r>
              <a:rPr sz="1350" b="0">
                <a:solidFill>
                  <a:srgbClr val="1E293B"/>
                </a:solidFill>
                <a:latin typeface="Calibri"/>
              </a:rPr>
              <a:t>Implement a deterministic 5-state Intent Classifier to immediately halt non-database utterances and conversational greetings.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Dual-Engine DBMS Integration: </a:t>
            </a:r>
            <a:r>
              <a:rPr sz="1350" b="0">
                <a:solidFill>
                  <a:srgbClr val="1E293B"/>
                </a:solidFill>
                <a:latin typeface="Calibri"/>
              </a:rPr>
              <a:t>Enable seamless query dispatching between cloud Supabase PostgreSQL 15+ and local zero-configuration SQLite.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AST Security Governance: </a:t>
            </a:r>
            <a:r>
              <a:rPr sz="1350" b="0">
                <a:solidFill>
                  <a:srgbClr val="1E293B"/>
                </a:solidFill>
                <a:latin typeface="Calibri"/>
              </a:rPr>
              <a:t>Mathematically enforce single-statement read-only SELECT policies using SQLGlot AST validation, auto-injecting LIMIT 100 ceilings.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DBMS Transparency &amp; Profiling: </a:t>
            </a:r>
            <a:r>
              <a:rPr sz="1350" b="0">
                <a:solidFill>
                  <a:srgbClr val="1E293B"/>
                </a:solidFill>
                <a:latin typeface="Calibri"/>
              </a:rPr>
              <a:t>Generate dynamic Mermaid ER diagrams from live foreign keys and profile query execution trees via EXPLAIN QUERY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System Overview /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Decoupled Request Flow: </a:t>
            </a:r>
            <a:r>
              <a:rPr sz="1350" b="0">
                <a:solidFill>
                  <a:srgbClr val="1E293B"/>
                </a:solidFill>
                <a:latin typeface="Calibri"/>
              </a:rPr>
              <a:t>Voice Stream -&gt; Text Normalization -&gt; Intent Classifier -&gt; Schema Mapping -&gt; SQLGlot AST Validator -&gt; Pre-Execution Review -&gt; Database Adapter.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Canonical Intent Gating: </a:t>
            </a:r>
            <a:r>
              <a:rPr sz="1350" b="0">
                <a:solidFill>
                  <a:srgbClr val="1E293B"/>
                </a:solidFill>
                <a:latin typeface="Calibri"/>
              </a:rPr>
              <a:t>Rejects greetings (OUT_OF_SCOPE), broad generic terms (AMBIGUOUS_QUERY), and mutations (UNSUPPORTED_OPERATION) with helpful suggestions.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Strict Pre-Execution Review: </a:t>
            </a:r>
            <a:r>
              <a:rPr sz="1350" b="0">
                <a:solidFill>
                  <a:srgbClr val="1E293B"/>
                </a:solidFill>
                <a:latin typeface="Calibri"/>
              </a:rPr>
              <a:t>Microphone stop NEVER auto-executes queries. Spoken text and synthesized SQL are presented in an interactive workbench for manual review.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Visual Badge Segregation: </a:t>
            </a:r>
            <a:r>
              <a:rPr sz="1350" b="0">
                <a:solidFill>
                  <a:srgbClr val="1E293B"/>
                </a:solidFill>
                <a:latin typeface="Calibri"/>
              </a:rPr>
              <a:t>Eliminated deceptive single 'Safe' badges; interface distinctly displays Speech Recognized, Intent Validated, and AST Validated indicators.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Requirements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Backend Framework: </a:t>
            </a:r>
            <a:r>
              <a:rPr sz="1350" b="0">
                <a:solidFill>
                  <a:srgbClr val="1E293B"/>
                </a:solidFill>
                <a:latin typeface="Calibri"/>
              </a:rPr>
              <a:t>Python 3.11+ with Flask REST API micro-framework serving async query endpoints and responsive templates.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Relational Databases: </a:t>
            </a:r>
            <a:r>
              <a:rPr sz="1350" b="0">
                <a:solidFill>
                  <a:srgbClr val="1E293B"/>
                </a:solidFill>
                <a:latin typeface="Calibri"/>
              </a:rPr>
              <a:t>SQLite 3 (Local WAL mode for instant zero-config CI) and Supabase PostgreSQL 15+ (Cloud instance with native Row-Level Security).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Acoustic &amp; Client Stack: </a:t>
            </a:r>
            <a:r>
              <a:rPr sz="1350" b="0">
                <a:solidFill>
                  <a:srgbClr val="1E293B"/>
                </a:solidFill>
                <a:latin typeface="Calibri"/>
              </a:rPr>
              <a:t>W3C Web Speech API (webkitSpeechRecognition) and Vanilla ES6+ JavaScript without frontend framework bloat.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AST &amp; Security Tooling: </a:t>
            </a:r>
            <a:r>
              <a:rPr sz="1350" b="0">
                <a:solidFill>
                  <a:srgbClr val="1E293B"/>
                </a:solidFill>
                <a:latin typeface="Calibri"/>
              </a:rPr>
              <a:t>SQLGlot modular Python SQL parser/transpiler for mathematical AST query analysis and LIMIT injection.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Testing &amp; Visualization: </a:t>
            </a:r>
            <a:r>
              <a:rPr sz="1350" b="0">
                <a:solidFill>
                  <a:srgbClr val="1E293B"/>
                </a:solidFill>
                <a:latin typeface="Calibri"/>
              </a:rPr>
              <a:t>Pytest automated test runner (99 tests in 3.99s) and Mermaid.js for dynamic ER diagram rendering.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Database Design — 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Core Academic Relations: </a:t>
            </a:r>
            <a:r>
              <a:rPr sz="1350" b="0">
                <a:solidFill>
                  <a:srgbClr val="1E293B"/>
                </a:solidFill>
                <a:latin typeface="Calibri"/>
              </a:rPr>
              <a:t>students (student_id PK, name, division, email), subjects (subject_id PK, subject_name, credits).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Transactional Join Tables: </a:t>
            </a:r>
            <a:r>
              <a:rPr sz="1350" b="0">
                <a:solidFill>
                  <a:srgbClr val="1E293B"/>
                </a:solidFill>
                <a:latin typeface="Calibri"/>
              </a:rPr>
              <a:t>marks (mark_id PK, student_id FK, subject_id FK, marks 0-100), attendance (attendance_id PK, student_id FK, subject_id FK, percentage).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System &amp; Governance Entities: </a:t>
            </a:r>
            <a:r>
              <a:rPr sz="1350" b="0">
                <a:solidFill>
                  <a:srgbClr val="1E293B"/>
                </a:solidFill>
                <a:latin typeface="Calibri"/>
              </a:rPr>
              <a:t>app_users (user_id PK, username, role: student/faculty/admin), query_logs (query_id PK, sql, latency, input_mode), audit_logs.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Dynamic ER Generation: </a:t>
            </a:r>
            <a:r>
              <a:rPr sz="1350" b="0">
                <a:solidFill>
                  <a:srgbClr val="1E293B"/>
                </a:solidFill>
                <a:latin typeface="Calibri"/>
              </a:rPr>
              <a:t>Live introspection of SQLite PRAGMA foreign_key_list and PostgreSQL pg_constraint dynamically compiles real Mermaid ER syntax.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Relational Schema &amp;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First Normal Form (1NF): </a:t>
            </a:r>
            <a:r>
              <a:rPr sz="1350" b="0">
                <a:solidFill>
                  <a:srgbClr val="1E293B"/>
                </a:solidFill>
                <a:latin typeface="Calibri"/>
              </a:rPr>
              <a:t>All table attributes contain atomic scalar values. Repeating groups eliminated. Explicit surrogate and natural primary keys assigned.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Second Normal Form (2NF): </a:t>
            </a:r>
            <a:r>
              <a:rPr sz="1350" b="0">
                <a:solidFill>
                  <a:srgbClr val="1E293B"/>
                </a:solidFill>
                <a:latin typeface="Calibri"/>
              </a:rPr>
              <a:t>Eliminated partial functional dependencies on composite candidate keys. In marks (student_id, subject_id), course metadata is isolated in subjects table.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Third Normal Form (3NF): </a:t>
            </a:r>
            <a:r>
              <a:rPr sz="1350" b="0">
                <a:solidFill>
                  <a:srgbClr val="1E293B"/>
                </a:solidFill>
                <a:latin typeface="Calibri"/>
              </a:rPr>
              <a:t>Eliminated transitive functional dependencies (X -&gt; Y and Y -&gt; Z). Student demographics reside strictly in students; marks records store only foreign keys (mark_id -&gt; student_id -&gt; division eliminated).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Domain &amp; Referential Integrity: </a:t>
            </a:r>
            <a:r>
              <a:rPr sz="1350" b="0">
                <a:solidFill>
                  <a:srgbClr val="1E293B"/>
                </a:solidFill>
                <a:latin typeface="Calibri"/>
              </a:rPr>
              <a:t>ON DELETE CASCADE on foreign keys; CHECK constraints enforce 0 &lt;= marks &lt;= 100 and valid user roles.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Implementation &amp; SQL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Multi-Table Relational Joins: </a:t>
            </a:r>
            <a:r>
              <a:rPr sz="1350" b="0">
                <a:solidFill>
                  <a:srgbClr val="1E293B"/>
                </a:solidFill>
                <a:latin typeface="Calibri"/>
              </a:rPr>
              <a:t>SELECT s.name, sub.subject_name, m.marks FROM students s JOIN marks m ON s.student_id = m.student_id JOIN subjects sub ON m.subject_id = sub.subject_id WHERE m.marks &gt; 80 ORDER BY m.marks DESC LIMIT 100;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Aggregation &amp; Defaulter Radar: </a:t>
            </a:r>
            <a:r>
              <a:rPr sz="1350" b="0">
                <a:solidFill>
                  <a:srgbClr val="1E293B"/>
                </a:solidFill>
                <a:latin typeface="Calibri"/>
              </a:rPr>
              <a:t>SELECT s.division, ROUND(AVG(a.attendance_percentage), 1) as avg_att FROM students s JOIN attendance a ON s.student_id = a.student_id GROUP BY s.division HAVING avg_att &lt; 75;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Defensive Execution Injection: </a:t>
            </a:r>
            <a:r>
              <a:rPr sz="1350" b="0">
                <a:solidFill>
                  <a:srgbClr val="1E293B"/>
                </a:solidFill>
                <a:latin typeface="Calibri"/>
              </a:rPr>
              <a:t>AST parser automatically injects LIMIT 100 when absent to protect memory buffer pools from denial-of-service result sets.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Cloud Idempotent Migrations: </a:t>
            </a:r>
            <a:r>
              <a:rPr sz="1350" b="0">
                <a:solidFill>
                  <a:srgbClr val="1E293B"/>
                </a:solidFill>
                <a:latin typeface="Calibri"/>
              </a:rPr>
              <a:t>scripts/migrate_sqlite_to_supabase.py converts SQLite types to PostgreSQL 15+ generated columns with ON CONFLICT DO UPDATE upserts.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Results /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Voice SQL Workspace: </a:t>
            </a:r>
            <a:r>
              <a:rPr sz="1350" b="0">
                <a:solidFill>
                  <a:srgbClr val="1E293B"/>
                </a:solidFill>
                <a:latin typeface="Calibri"/>
              </a:rPr>
              <a:t>Real-time speech recognition with microphone waveform animation and editable transcription textarea.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Intent-Aware Guidance: </a:t>
            </a:r>
            <a:r>
              <a:rPr sz="1350" b="0">
                <a:solidFill>
                  <a:srgbClr val="1E293B"/>
                </a:solidFill>
                <a:latin typeface="Calibri"/>
              </a:rPr>
              <a:t>Greeting inputs ('hello how are you') return status: 'out_of_scope', clear the SQL editor, hide AST badges, and offer clickable suggestion chips.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Execution Plan Profiler: </a:t>
            </a:r>
            <a:r>
              <a:rPr sz="1350" b="0">
                <a:solidFill>
                  <a:srgbClr val="1E293B"/>
                </a:solidFill>
                <a:latin typeface="Calibri"/>
              </a:rPr>
              <a:t>Integrated [Explain Plan] drawer analyzes database optimizer execution trees, categorizing FULL_TABLE_SCAN vs INDEX_SEARCH (B-Tree lookups).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Dual-Engine Tabular Output: </a:t>
            </a:r>
            <a:r>
              <a:rPr sz="1350" b="0">
                <a:solidFill>
                  <a:srgbClr val="1E293B"/>
                </a:solidFill>
                <a:latin typeface="Calibri"/>
              </a:rPr>
              <a:t>Renders results with column headers, row counts, and query execution times (2.4ms SQLite / 42ms Cloud Supabase).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Automated Test Baseline: </a:t>
            </a:r>
            <a:r>
              <a:rPr sz="1350" b="0">
                <a:solidFill>
                  <a:srgbClr val="1E293B"/>
                </a:solidFill>
                <a:latin typeface="Calibri"/>
              </a:rPr>
              <a:t>99 / 99 Automated Pytest Tests Passing (100% pass rate in 3.99 seconds across 5 test suites).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tests/test_intent_regression.py: </a:t>
            </a:r>
            <a:r>
              <a:rPr sz="1350" b="0">
                <a:solidFill>
                  <a:srgbClr val="1E293B"/>
                </a:solidFill>
                <a:latin typeface="Calibri"/>
              </a:rPr>
              <a:t>40 tests verifying greeting bug fix, out-of-scope blocking, destructive query rejection, and live API responses.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tests/test_querymind.py &amp; _2.py: </a:t>
            </a:r>
            <a:r>
              <a:rPr sz="1350" b="0">
                <a:solidFill>
                  <a:srgbClr val="1E293B"/>
                </a:solidFill>
                <a:latin typeface="Calibri"/>
              </a:rPr>
              <a:t>49 tests verifying NLP slot filling, SQLGlot AST security, CSV datasets, voice normalization, schema explorer, and page routes.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tests/test_advanced_dbms.py &amp; adapter: </a:t>
            </a:r>
            <a:r>
              <a:rPr sz="1350" b="0">
                <a:solidFill>
                  <a:srgbClr val="1E293B"/>
                </a:solidFill>
                <a:latin typeface="Calibri"/>
              </a:rPr>
              <a:t>10 tests verifying EXPLAIN execution plans, dual-engine fallback, and metadata introspection.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Greeting Bug Autopsy &amp; Fix: </a:t>
            </a:r>
            <a:r>
              <a:rPr sz="1350" b="0">
                <a:solidFill>
                  <a:srgbClr val="1E293B"/>
                </a:solidFill>
                <a:latin typeface="Calibri"/>
              </a:rPr>
              <a:t>Identified arbitrary fallback in nlp/sql_generator.py line 402; eliminated fallback and inserted 5-state Intent Classifier.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Demonstrated Contribution: </a:t>
            </a:r>
            <a:r>
              <a:rPr sz="1350" b="0">
                <a:solidFill>
                  <a:srgbClr val="1E293B"/>
                </a:solidFill>
                <a:latin typeface="Calibri"/>
              </a:rPr>
              <a:t>Successfully proved voice-to-database interaction is practical, deterministic, and secure without stochastic LLM hallucinations.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Educational DBMS Value: </a:t>
            </a:r>
            <a:r>
              <a:rPr sz="1350" b="0">
                <a:solidFill>
                  <a:srgbClr val="1E293B"/>
                </a:solidFill>
                <a:latin typeface="Calibri"/>
              </a:rPr>
              <a:t>Provides transparent DBMS visibility into normalization, foreign key constraints, B-Tree indexing, and execution profiling.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Air-Gapped Offline Voice: </a:t>
            </a:r>
            <a:r>
              <a:rPr sz="1350" b="0">
                <a:solidFill>
                  <a:srgbClr val="1E293B"/>
                </a:solidFill>
                <a:latin typeface="Calibri"/>
              </a:rPr>
              <a:t>Roadmap includes integrating Vosk WebAssembly or faster-whisper for offline speech recognition without browser network dependencies.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Multi-Turn Conversational Memory: </a:t>
            </a:r>
            <a:r>
              <a:rPr sz="1350" b="0">
                <a:solidFill>
                  <a:srgbClr val="1E293B"/>
                </a:solidFill>
                <a:latin typeface="Calibri"/>
              </a:rPr>
              <a:t>Future versions will implement Redis session storage for conversational query clarification across multiple dialogue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References &amp;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Relational Theory: </a:t>
            </a:r>
            <a:r>
              <a:rPr sz="1350" b="0">
                <a:solidFill>
                  <a:srgbClr val="1E293B"/>
                </a:solidFill>
                <a:latin typeface="Calibri"/>
              </a:rPr>
              <a:t>[1] E. F. Codd, 'A Relational Model of Data for Large Shared Data Banks,' CACM, 1970.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Web Standards: </a:t>
            </a:r>
            <a:r>
              <a:rPr sz="1350" b="0">
                <a:solidFill>
                  <a:srgbClr val="1E293B"/>
                </a:solidFill>
                <a:latin typeface="Calibri"/>
              </a:rPr>
              <a:t>[2] W3C Web Speech Working Group, 'Web Speech API Specification,' W3C Final Report, 2020.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SQL Parsing &amp; Security: </a:t>
            </a:r>
            <a:r>
              <a:rPr sz="1350" b="0">
                <a:solidFill>
                  <a:srgbClr val="1E293B"/>
                </a:solidFill>
                <a:latin typeface="Calibri"/>
              </a:rPr>
              <a:t>[3] T. Mao, 'SQLGlot: A Modular Python SQL Parser and Transpiler,' 2023. | [4] OWASP SQL Injection Prevention Cheat Sheet, 2023.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Enterprise PostgreSQL: </a:t>
            </a:r>
            <a:r>
              <a:rPr sz="1350" b="0">
                <a:solidFill>
                  <a:srgbClr val="1E293B"/>
                </a:solidFill>
                <a:latin typeface="Calibri"/>
              </a:rPr>
              <a:t>[5] PostgreSQL 15 Documentation: Row-Level Security &amp; EXPLAIN Plans. | [6] Supabase Architecture Guides, 2024.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Questions &amp; Discussion: </a:t>
            </a:r>
            <a:r>
              <a:rPr sz="1350" b="0">
                <a:solidFill>
                  <a:srgbClr val="1E293B"/>
                </a:solidFill>
                <a:latin typeface="Calibri"/>
              </a:rPr>
              <a:t>Thank you! We welcome questions, technical defense inquiries, and live system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Final Submission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rPr sz="1400" b="1">
                <a:solidFill>
                  <a:srgbClr val="4338CA"/>
                </a:solidFill>
                <a:latin typeface="Calibri"/>
              </a:rPr>
              <a:t>Project Report: </a:t>
            </a:r>
            <a:r>
              <a:rPr sz="1350" b="0">
                <a:solidFill>
                  <a:srgbClr val="1E293B"/>
                </a:solidFill>
                <a:latin typeface="Calibri"/>
              </a:rPr>
              <a:t>[COMPLETED] Comprehensive 13-chapter academic technical report generated in PDF, DOCX, and HTML formats.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Presentation PPT: </a:t>
            </a:r>
            <a:r>
              <a:rPr sz="1350" b="0">
                <a:solidFill>
                  <a:srgbClr val="1E293B"/>
                </a:solidFill>
                <a:latin typeface="Calibri"/>
              </a:rPr>
              <a:t>[COMPLETED] Formatted according to official DCDS ESE template guidelines with all 13 slides populated.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DBMS Core Artifacts: </a:t>
            </a:r>
            <a:r>
              <a:rPr sz="1350" b="0">
                <a:solidFill>
                  <a:srgbClr val="1E293B"/>
                </a:solidFill>
                <a:latin typeface="Calibri"/>
              </a:rPr>
              <a:t>[VERIFIED] ER diagram, 3NF schema, sample data, SQL joins, and EXPLAIN query plans verified.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Automated Test Evidence: </a:t>
            </a:r>
            <a:r>
              <a:rPr sz="1350" b="0">
                <a:solidFill>
                  <a:srgbClr val="1E293B"/>
                </a:solidFill>
                <a:latin typeface="Calibri"/>
              </a:rPr>
              <a:t>[VERIFIED] 99/99 automated pytest tests passing; greeting-input bug completely resolved.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Codebase &amp; Git: </a:t>
            </a:r>
            <a:r>
              <a:rPr sz="1350" b="0">
                <a:solidFill>
                  <a:srgbClr val="1E293B"/>
                </a:solidFill>
                <a:latin typeface="Calibri"/>
              </a:rPr>
              <a:t>[PUSHED] Verified clean on GitHub repository branch querymind-2.0 (Commit a2bc3c9).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